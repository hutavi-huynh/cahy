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09728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148840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ABBD4"/>
                </a:solidFill>
              </a:rPr>
              <a:t>HỆ THỐNG NỘI BỘ LAN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2395728"/>
            <a:ext cx="121889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0C040"/>
                </a:solidFill>
                <a:effectLst>
                  <a:glow rad="152400">
                    <a:srgbClr val="C8A43A">
                      <a:alpha val="30000"/>
                    </a:srgbClr>
                  </a:glow>
                </a:effectLst>
              </a:rPr>
              <a:t>CAHY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3218688"/>
            <a:ext cx="103601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ABBD4"/>
                </a:solidFill>
              </a:rPr>
              <a:t>Hệ thống Quản lý Nhiệm vụ Công tác</a:t>
            </a:r>
            <a:endParaRPr lang="en-US" sz="1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AABBD4"/>
                </a:solidFill>
              </a:rPr>
              <a:t>Công an tỉnh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4041648"/>
            <a:ext cx="3959352" cy="384048"/>
          </a:xfrm>
          <a:prstGeom prst="roundRect">
            <a:avLst>
              <a:gd name="adj" fmla="val 42857"/>
            </a:avLst>
          </a:prstGeom>
          <a:solidFill>
            <a:srgbClr val="0F2244"/>
          </a:solidFill>
          <a:ln w="19050">
            <a:solidFill>
              <a:srgbClr val="C8A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4041648"/>
            <a:ext cx="3959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C040"/>
                </a:solidFill>
              </a:rPr>
              <a:t>Demo sản phẩm  · 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6355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🖥️  Nội bộ mạng LAN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82112" y="6355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🔒  Phân quyền 3 cấp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89904" y="6355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📊  Báo cáo tự động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97696" y="6355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📎  Đính kèm tài liệu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731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🎯  Bối cảnh &amp; Vấn đề cần giải quyết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5577840" cy="5303520"/>
          </a:xfrm>
          <a:prstGeom prst="rect">
            <a:avLst>
              <a:gd name="adj" fmla="val 1379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0292" cy="530352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686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C2626"/>
                </a:solidFill>
              </a:rPr>
              <a:t>❌  THỰC TRẠNG TRƯỚC ĐÂY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353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</a:rPr>
              <a:t>Phân công bằng văn bản giấy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16276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Khó tra cứu, dễ thất lạc, chậm cập nhật tiến độ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774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359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</a:rPr>
              <a:t>Đôn đốc qua điện thoại / họp trực tiếp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6334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Tốn thời gian, không lưu vết lịch sử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364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</a:rPr>
              <a:t>Tổng hợp báo cáo thủ công từng phòng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36393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Mất nhiều giờ mỗi lần tổng hợp số liệu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297680"/>
            <a:ext cx="5303520" cy="868680"/>
          </a:xfrm>
          <a:prstGeom prst="roundRect">
            <a:avLst>
              <a:gd name="adj" fmla="val 7368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43708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</a:rPr>
              <a:t>Không phát hiện sớm nhiệm vụ quá hạn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6451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Không có hệ thống cảnh báo tự động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36792" y="822960"/>
            <a:ext cx="5577840" cy="4572000"/>
          </a:xfrm>
          <a:prstGeom prst="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6792" y="822960"/>
            <a:ext cx="50292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8686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6A34A"/>
                </a:solidFill>
              </a:rPr>
              <a:t>✅  GIẢI PHÁP CAHY MANG LẠI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73952" y="128016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11112" y="135331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14032" y="13350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</a:rPr>
              <a:t>Phân công nhiệm vụ trực tuyến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14032" y="159105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Giao việc, theo dõi tiến độ ngay trên hệ thống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73952" y="224028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231343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14032" y="22951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</a:rPr>
              <a:t>Thông báo &amp; nhắc nhở tự động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14032" y="255117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Cảnh báo đến hạn trước N ngày, phát hiện quá hạn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73952" y="320040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327355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14032" y="325526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</a:rPr>
              <a:t>Báo cáo thống kê tức thời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14032" y="351129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Số liệu theo đơn vị, theo trạng thái, xuất Excel 1 click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73952" y="4160520"/>
            <a:ext cx="5303520" cy="822960"/>
          </a:xfrm>
          <a:prstGeom prst="roundRect">
            <a:avLst>
              <a:gd name="adj" fmla="val 7778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11112" y="423367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114032" y="42153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</a:rPr>
              <a:t>Bảo mật nội bộ LAN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14032" y="447141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Không cần Internet, không rò rỉ dữ liệu ra ngoài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36792" y="5532120"/>
            <a:ext cx="5577840" cy="594360"/>
          </a:xfrm>
          <a:prstGeom prst="roundRect">
            <a:avLst>
              <a:gd name="adj" fmla="val 12308"/>
            </a:avLst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553212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4"/>
                </a:solidFill>
              </a:rPr>
              <a:t>🏢  Công an tỉnh  ·  16 phòng ban  ·  30+ cán bộ  ·  Vận hành trên mạng LAN nội bộ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731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🏗️  Tổng quan kiến trúc hệ thống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065F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Mạng LAN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Nội bộ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" y="1417320"/>
            <a:ext cx="1225296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17320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Không Internet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38328" y="1664208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664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Bảo mật cao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97480" y="822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868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Giao diện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(Frontend)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07208" y="1417320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7208" y="1417320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React 19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48456" y="1417320"/>
            <a:ext cx="932688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41732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TypeScript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07208" y="1664208"/>
            <a:ext cx="640080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16642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Vite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02152" y="1664208"/>
            <a:ext cx="859536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1664208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shadcn/ui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16552" y="1664208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6552" y="1664208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Tailwind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807208" y="1911096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19110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React Query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89320" y="822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8686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Máy chủ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(Backend)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9048" y="1417320"/>
            <a:ext cx="859536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1417320"/>
            <a:ext cx="8595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NestJS 11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013448" y="1417320"/>
            <a:ext cx="932688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141732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TypeScript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99048" y="1664208"/>
            <a:ext cx="713232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1664208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TypeORM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67144" y="1664208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67144" y="1664208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JWT Auth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708392" y="1664208"/>
            <a:ext cx="786384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08392" y="1664208"/>
            <a:ext cx="786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REST API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99048" y="1911096"/>
            <a:ext cx="713232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9048" y="191109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Swagger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281160" y="82296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1F2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72600" y="8686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Cơ sở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Dữ liệu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390888" y="1417320"/>
            <a:ext cx="932688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90888" y="141732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PostgreSQL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390888" y="1664208"/>
            <a:ext cx="932688" cy="201168"/>
          </a:xfrm>
          <a:prstGeom prst="roundRect">
            <a:avLst>
              <a:gd name="adj" fmla="val 3636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90888" y="166420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DDDDD"/>
                </a:solidFill>
              </a:rPr>
              <a:t>8 entities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057400" y="1051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⟺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349240" y="1051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⟺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641080" y="1051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⟺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274320" y="2578608"/>
            <a:ext cx="4937760" cy="0"/>
          </a:xfrm>
          <a:prstGeom prst="line">
            <a:avLst/>
          </a:prstGeom>
          <a:noFill/>
          <a:ln w="9525">
            <a:solidFill>
              <a:srgbClr val="D1DA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2487168"/>
            <a:ext cx="2679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CÁC MODULE CHỨC NĂNG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891272" y="2578608"/>
            <a:ext cx="4023360" cy="0"/>
          </a:xfrm>
          <a:prstGeom prst="line">
            <a:avLst/>
          </a:prstGeom>
          <a:noFill/>
          <a:ln w="9525">
            <a:solidFill>
              <a:srgbClr val="D1DA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8600" y="2697480"/>
            <a:ext cx="143560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2697480"/>
            <a:ext cx="1435608" cy="54864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2798064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228600" y="336499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Xác thực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28600" y="3648456"/>
            <a:ext cx="1435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Đăng nhập JWT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723644" y="2697480"/>
            <a:ext cx="143560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23644" y="2697480"/>
            <a:ext cx="1435608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23644" y="2798064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1723644" y="336499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Nhiệm vụ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723644" y="3648456"/>
            <a:ext cx="1435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CRUD + phân công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218688" y="2697480"/>
            <a:ext cx="143560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18688" y="2697480"/>
            <a:ext cx="143560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18688" y="2798064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🏢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3218688" y="336499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Đơn vị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218688" y="3648456"/>
            <a:ext cx="1435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Quản lý phòng ban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13732" y="2697480"/>
            <a:ext cx="143560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13732" y="2697480"/>
            <a:ext cx="143560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13732" y="2798064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69" name="Text 67"/>
          <p:cNvSpPr/>
          <p:nvPr/>
        </p:nvSpPr>
        <p:spPr>
          <a:xfrm>
            <a:off x="4713732" y="336499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Tài khoản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4713732" y="3648456"/>
            <a:ext cx="1435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Người dùng &amp; quyền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08776" y="2697480"/>
            <a:ext cx="143560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08776" y="2697480"/>
            <a:ext cx="143560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08776" y="2798064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74" name="Text 72"/>
          <p:cNvSpPr/>
          <p:nvPr/>
        </p:nvSpPr>
        <p:spPr>
          <a:xfrm>
            <a:off x="6208776" y="336499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Báo cáo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6208776" y="3648456"/>
            <a:ext cx="1435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Thống kê + Excel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703820" y="2697480"/>
            <a:ext cx="143560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03820" y="2697480"/>
            <a:ext cx="143560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03820" y="2798064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79" name="Text 77"/>
          <p:cNvSpPr/>
          <p:nvPr/>
        </p:nvSpPr>
        <p:spPr>
          <a:xfrm>
            <a:off x="7703820" y="336499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Thông báo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7703820" y="3648456"/>
            <a:ext cx="1435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Cảnh báo tự động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198864" y="2697480"/>
            <a:ext cx="143560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98864" y="2697480"/>
            <a:ext cx="1435608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198864" y="2798064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84" name="Text 82"/>
          <p:cNvSpPr/>
          <p:nvPr/>
        </p:nvSpPr>
        <p:spPr>
          <a:xfrm>
            <a:off x="9198864" y="336499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Kết quả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9198864" y="3648456"/>
            <a:ext cx="1435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Báo cáo tiến độ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693908" y="2697480"/>
            <a:ext cx="1435608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693908" y="2697480"/>
            <a:ext cx="1435608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693908" y="2798064"/>
            <a:ext cx="1435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89" name="Text 87"/>
          <p:cNvSpPr/>
          <p:nvPr/>
        </p:nvSpPr>
        <p:spPr>
          <a:xfrm>
            <a:off x="10693908" y="3364992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Giải trình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10693908" y="3648456"/>
            <a:ext cx="1435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Xử lý quá hạn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228600" y="4480560"/>
            <a:ext cx="2788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0040" y="44988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16</a:t>
            </a:r>
            <a:endParaRPr lang="en-US" sz="2800" dirty="0"/>
          </a:p>
        </p:txBody>
      </p:sp>
      <p:sp>
        <p:nvSpPr>
          <p:cNvPr id="93" name="Text 91"/>
          <p:cNvSpPr/>
          <p:nvPr/>
        </p:nvSpPr>
        <p:spPr>
          <a:xfrm>
            <a:off x="1143000" y="449884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Phòng ban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3218688" y="4480560"/>
            <a:ext cx="2788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10128" y="44988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30+</a:t>
            </a:r>
            <a:endParaRPr lang="en-US" sz="2800" dirty="0"/>
          </a:p>
        </p:txBody>
      </p:sp>
      <p:sp>
        <p:nvSpPr>
          <p:cNvPr id="96" name="Text 94"/>
          <p:cNvSpPr/>
          <p:nvPr/>
        </p:nvSpPr>
        <p:spPr>
          <a:xfrm>
            <a:off x="4133088" y="449884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Tài khoản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208776" y="4480560"/>
            <a:ext cx="2788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00216" y="44988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3</a:t>
            </a:r>
            <a:endParaRPr lang="en-US" sz="2800" dirty="0"/>
          </a:p>
        </p:txBody>
      </p:sp>
      <p:sp>
        <p:nvSpPr>
          <p:cNvPr id="99" name="Text 97"/>
          <p:cNvSpPr/>
          <p:nvPr/>
        </p:nvSpPr>
        <p:spPr>
          <a:xfrm>
            <a:off x="7123176" y="449884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Cấp phân quyền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198864" y="4480560"/>
            <a:ext cx="2788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290304" y="44988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8</a:t>
            </a:r>
            <a:endParaRPr lang="en-US" sz="2800" dirty="0"/>
          </a:p>
        </p:txBody>
      </p:sp>
      <p:sp>
        <p:nvSpPr>
          <p:cNvPr id="102" name="Text 100"/>
          <p:cNvSpPr/>
          <p:nvPr/>
        </p:nvSpPr>
        <p:spPr>
          <a:xfrm>
            <a:off x="10113264" y="449884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Bảng dữ liệu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🔐  Phân quyền người dùng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725912" y="164592"/>
            <a:ext cx="1188720" cy="347472"/>
          </a:xfrm>
          <a:prstGeom prst="roundRect">
            <a:avLst>
              <a:gd name="adj" fmla="val 31579"/>
            </a:avLst>
          </a:prstGeom>
          <a:solidFill>
            <a:srgbClr val="C8A43A">
              <a:alpha val="25000"/>
            </a:srgbClr>
          </a:solidFill>
          <a:ln w="12700">
            <a:solidFill>
              <a:srgbClr val="C8A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5912" y="1645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43A"/>
                </a:solidFill>
              </a:rPr>
              <a:t>3 cấp độ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3749040" cy="5074920"/>
          </a:xfrm>
          <a:prstGeom prst="roundRect">
            <a:avLst>
              <a:gd name="adj" fmla="val 2439"/>
            </a:avLst>
          </a:prstGeom>
          <a:solidFill>
            <a:srgbClr val="0F2244"/>
          </a:solidFill>
          <a:ln w="12700">
            <a:solidFill>
              <a:srgbClr val="D1DA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60120"/>
            <a:ext cx="3474720" cy="256032"/>
          </a:xfrm>
          <a:prstGeom prst="roundRect">
            <a:avLst>
              <a:gd name="adj" fmla="val 35714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60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</a:rPr>
              <a:t>QUẢN TRỊ HỆ THỐNG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👑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" y="1764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C040"/>
                </a:solidFill>
              </a:rPr>
              <a:t>ADMIN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" y="2112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Lãnh đạo / PV01 / Ban giám đốc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3383280" cy="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42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✓  Tạo, chỉnh sửa, xóa nhiệm vụ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8437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✓  Phân công đơn vị chủ trì &amp; phối hợp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145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✓  Xem toàn bộ nhiệm vụ mọi đơn vị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447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✓  Quản lý tài khoản người dùng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✓  Quản lý danh mục đơn vị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050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✓  Xem báo cáo thống kê toàn hệ thống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352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✓  Xuất báo cáo Excel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6542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EE"/>
                </a:solidFill>
              </a:rPr>
              <a:t>✓  Gửi thông báo hệ thống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804672"/>
            <a:ext cx="3749040" cy="5074920"/>
          </a:xfrm>
          <a:prstGeom prst="roundRect">
            <a:avLst>
              <a:gd name="adj" fmla="val 2439"/>
            </a:avLst>
          </a:prstGeom>
          <a:solidFill>
            <a:srgbClr val="1E3A5F"/>
          </a:solidFill>
          <a:ln w="12700">
            <a:solidFill>
              <a:srgbClr val="D1DA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960120"/>
            <a:ext cx="3474720" cy="256032"/>
          </a:xfrm>
          <a:prstGeom prst="roundRect">
            <a:avLst>
              <a:gd name="adj" fmla="val 35714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60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</a:rPr>
              <a:t>PHỤ TRÁCH ĐƠN VỊ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51960" y="12618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🎖️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251960" y="1764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0A5FA"/>
                </a:solidFill>
              </a:rPr>
              <a:t>TRƯỞNG ĐƠN VỊ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51960" y="2112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Trưởng phòng / Phụ trách đơn vị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4840" y="2450592"/>
            <a:ext cx="3383280" cy="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2542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Xem nhiệm vụ của phòng mình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34840" y="28437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Xem nhiệm vụ phòng mình phối hợp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34840" y="3145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Gửi báo cáo kết quả thực hiện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4840" y="3447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Đính kèm file báo cáo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3484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Nộp giải trình khi quá hạn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434840" y="4050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Xem thông báo liên quan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89120" y="5330952"/>
            <a:ext cx="3474720" cy="438912"/>
          </a:xfrm>
          <a:prstGeom prst="roundRect">
            <a:avLst>
              <a:gd name="adj" fmla="val 14583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534924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3C5FD"/>
                </a:solidFill>
              </a:rPr>
              <a:t>⚠️ Chỉ xem được nhiệm vụ của phòng ban mình, không thấy dữ liệu phòng khác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229600" y="804672"/>
            <a:ext cx="3749040" cy="50749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66760" y="960120"/>
            <a:ext cx="3474720" cy="256032"/>
          </a:xfrm>
          <a:prstGeom prst="roundRect">
            <a:avLst>
              <a:gd name="adj" fmla="val 35714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960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CÁN BỘ ĐƠN VỊ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12618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8229600" y="1764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244"/>
                </a:solidFill>
              </a:rPr>
              <a:t>CÁN BỘ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29600" y="2112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Cán bộ thuộc các phòng ban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412480" y="2450592"/>
            <a:ext cx="3383280" cy="0"/>
          </a:xfrm>
          <a:prstGeom prst="line">
            <a:avLst/>
          </a:prstGeom>
          <a:noFill/>
          <a:ln w="9525">
            <a:solidFill>
              <a:srgbClr val="D1D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25420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44"/>
                </a:solidFill>
              </a:rPr>
              <a:t>✓  Xem nhiệm vụ của phòng mình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412480" y="28437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44"/>
                </a:solidFill>
              </a:rPr>
              <a:t>✓  Xem nhiệm vụ phòng mình phối hợp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12480" y="3145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44"/>
                </a:solidFill>
              </a:rPr>
              <a:t>✓  Gửi báo cáo kết quả thực hiện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412480" y="34472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44"/>
                </a:solidFill>
              </a:rPr>
              <a:t>✓  Đính kèm file minh chứng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41248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44"/>
                </a:solidFill>
              </a:rPr>
              <a:t>✓  Nộp giải trình khi quá hạn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412480" y="4050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44"/>
                </a:solidFill>
              </a:rPr>
              <a:t>✓  Xem thông báo cá nhân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366760" y="5330952"/>
            <a:ext cx="3474720" cy="438912"/>
          </a:xfrm>
          <a:prstGeom prst="roundRect">
            <a:avLst>
              <a:gd name="adj" fmla="val 14583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534924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D4ED8"/>
                </a:solidFill>
              </a:rPr>
              <a:t>ℹ️ Hệ thống có thể mở rộng phân cấp trong nội bộ phòng ban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6053328"/>
            <a:ext cx="11640312" cy="566928"/>
          </a:xfrm>
          <a:prstGeom prst="roundRect">
            <a:avLst>
              <a:gd name="adj" fmla="val 12903"/>
            </a:avLst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05332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1B0"/>
                </a:solidFill>
              </a:rPr>
              <a:t>🔑  Bảo mật đăng nhập:  JWT Token  ·  Mã hoá mật khẩu bcrypt  ·  Ghi log lịch sử đăng nhập (IP, thời gian, thành công/thất bại)  ·  Tự động lọc dữ liệu theo phòng ban sau đăng nhập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731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📊  Dashboard – Trang Tổng quan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502920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50292" cy="141732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7782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</a:rPr>
              <a:t>MỤC ĐÍCH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0972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Trang đầu tiên sau khi đăng nhập. Cung cấp cái nhìn tổng thể về tình hình nhiệm vụ công tác và các việc cần xử lý gần đây.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359152"/>
            <a:ext cx="5029200" cy="187452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241401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</a:rPr>
              <a:t>HIỂN THỊ THEO PHÂN QUYỀN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15768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74320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Admin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96112" y="29809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4 thẻ thống kê toàn hệ thống + danh sách công việc gần đây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447288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65576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🎖️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349300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Cán bộ / Trưởng đơn vị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" y="373075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Danh sách 5 nhiệm vụ gần đây nhất của phòng mình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4343400"/>
            <a:ext cx="5029200" cy="173736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439826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</a:rPr>
              <a:t>THẺ THỐNG KÊ (Admin)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" y="4663440"/>
            <a:ext cx="1097280" cy="1261872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736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</a:rPr>
              <a:t>21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47472" y="5285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Tổng công việc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554480" y="4663440"/>
            <a:ext cx="1097280" cy="1261872"/>
          </a:xfrm>
          <a:prstGeom prst="roundRect">
            <a:avLst>
              <a:gd name="adj" fmla="val 6667"/>
            </a:avLst>
          </a:prstGeom>
          <a:solidFill>
            <a:srgbClr val="FEF9C3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4736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8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554480" y="5285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Đang thực hiện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61488" y="4663440"/>
            <a:ext cx="1097280" cy="1261872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61488" y="4736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761488" y="5285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Hoàn thành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68496" y="4663440"/>
            <a:ext cx="1097280" cy="1261872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68496" y="4736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3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968496" y="5285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Quá hạn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32120" y="822960"/>
            <a:ext cx="6400800" cy="5257800"/>
          </a:xfrm>
          <a:prstGeom prst="rect">
            <a:avLst>
              <a:gd name="adj" fmla="val 1391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0" y="87782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</a:rPr>
              <a:t>Công việc gần đây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23560" y="1261872"/>
            <a:ext cx="6217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42432" y="133502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Tuần tra kiểm soát giao thông QL1A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42432" y="16367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P.CS Giao thông · Hạn: 09/05/2026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561320" y="1508760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61320" y="150876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23560" y="2167128"/>
            <a:ext cx="6217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42432" y="2240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Kiểm tra PCCC tại các cơ sở kinh doanh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42432" y="25420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P.PCCC · Hạn: 14/05/2026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561320" y="2414016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61320" y="241401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23560" y="3072384"/>
            <a:ext cx="6217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42432" y="31455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Điều tra vụ trộm cắp tại phường Hòa Phú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742432" y="34472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P.CS Hình sự · Hạn: 13/05/2026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561320" y="3319272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61320" y="331927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23560" y="3977640"/>
            <a:ext cx="6217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42432" y="40507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Báo cáo tổng hợp tình hình tệ nạn Q.II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742432" y="43525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P.CS ATXH · Hạn: 03/05/2026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561320" y="4224528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61320" y="422452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● Quá hạn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23560" y="4882896"/>
            <a:ext cx="621792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42432" y="49560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Điều tra vụ cố ý gây thương tích Tân Bình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42432" y="52578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P.CS Hình sự · Hạn: 01/05/2026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561320" y="5129784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61320" y="512978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● Hoàn thành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📋  Quản lý Nhiệm vụ Công tác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725912" y="164592"/>
            <a:ext cx="1188720" cy="347472"/>
          </a:xfrm>
          <a:prstGeom prst="roundRect">
            <a:avLst>
              <a:gd name="adj" fmla="val 31579"/>
            </a:avLst>
          </a:prstGeom>
          <a:solidFill>
            <a:srgbClr val="C8A43A">
              <a:alpha val="25000"/>
            </a:srgbClr>
          </a:solidFill>
          <a:ln w="12700">
            <a:solidFill>
              <a:srgbClr val="C8A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5912" y="1645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43A"/>
                </a:solidFill>
              </a:rPr>
              <a:t>Chức năng cốt lõi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5120640" cy="2651760"/>
          </a:xfrm>
          <a:prstGeom prst="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22960"/>
            <a:ext cx="50292" cy="265176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THÔNG TIN NHIỆM VỤ (ADMIN TẠO)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115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📌  Tên nhiệm vụ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06040" y="11155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Tiêu đề + nội dung chi tiết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417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🏢  Đơn vị chủ trì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4173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1 đơn vị chịu trách nhiệm chính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719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🤝  Phối hợp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06040" y="17190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Nhiều đơn vị hỗ trợ thực hiện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0208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📅  Chu kỳ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20208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Một lần / Hàng tuần / Tháng / Quý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23225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⏰  Thời hạn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232257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Ngày giờ cụ thể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26243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🔔  Nhắc trước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26243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N ngày trước deadline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🎯  Kết quả mong đợi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06040" y="2926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Mô tả tiêu chí hoàn thành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611880"/>
            <a:ext cx="512064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366674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BỘ LỌC DANH SÁCH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7472" y="3913632"/>
            <a:ext cx="2377440" cy="310896"/>
          </a:xfrm>
          <a:prstGeom prst="roundRect">
            <a:avLst>
              <a:gd name="adj" fmla="val 20588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91363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🔍 Tìm theo tên / đơn vị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89504" y="3913632"/>
            <a:ext cx="2377440" cy="310896"/>
          </a:xfrm>
          <a:prstGeom prst="roundRect">
            <a:avLst>
              <a:gd name="adj" fmla="val 20588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391363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📁 Lọc trạng thái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297680"/>
            <a:ext cx="2377440" cy="310896"/>
          </a:xfrm>
          <a:prstGeom prst="roundRect">
            <a:avLst>
              <a:gd name="adj" fmla="val 20588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2976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🏢 Lọc theo đơn vị (Admin)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89504" y="4297680"/>
            <a:ext cx="2377440" cy="310896"/>
          </a:xfrm>
          <a:prstGeom prst="roundRect">
            <a:avLst>
              <a:gd name="adj" fmla="val 20588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9504" y="42976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📆 Lọc theo thời hạn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4919472"/>
            <a:ext cx="5120640" cy="1664208"/>
          </a:xfrm>
          <a:prstGeom prst="rect">
            <a:avLst>
              <a:gd name="adj" fmla="val 4396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4048" y="49743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VÒNG ĐỜI TRẠNG THÁI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7472" y="5230368"/>
            <a:ext cx="1115568" cy="749808"/>
          </a:xfrm>
          <a:prstGeom prst="roundRect">
            <a:avLst>
              <a:gd name="adj" fmla="val 9756"/>
            </a:avLst>
          </a:prstGeom>
          <a:solidFill>
            <a:srgbClr val="F3F4F6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5230368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B7280"/>
                </a:solidFill>
              </a:rPr>
              <a:t>🆕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B7280"/>
                </a:solidFill>
              </a:rPr>
              <a:t>Chưa TH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627632" y="5230368"/>
            <a:ext cx="1115568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27632" y="5230368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D4ED8"/>
                </a:solidFill>
              </a:rPr>
              <a:t>▶️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D4ED8"/>
                </a:solidFill>
              </a:rPr>
              <a:t>Đang 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907792" y="5230368"/>
            <a:ext cx="1115568" cy="749808"/>
          </a:xfrm>
          <a:prstGeom prst="roundRect">
            <a:avLst>
              <a:gd name="adj" fmla="val 9756"/>
            </a:avLst>
          </a:prstGeom>
          <a:solidFill>
            <a:srgbClr val="DCFCE7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07792" y="5230368"/>
            <a:ext cx="11155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6A34A"/>
                </a:solidFill>
              </a:rPr>
              <a:t>✅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6A34A"/>
                </a:solidFill>
              </a:rPr>
              <a:t>Hoàn thành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463040" y="5349240"/>
            <a:ext cx="182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743200" y="5349240"/>
            <a:ext cx="182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114800" y="534924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534924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⚠️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Quá hạn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(tự động)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14400" y="6071616"/>
            <a:ext cx="3200400" cy="0"/>
          </a:xfrm>
          <a:prstGeom prst="line">
            <a:avLst/>
          </a:prstGeom>
          <a:noFill/>
          <a:ln w="12700">
            <a:solidFill>
              <a:srgbClr val="FCA5A5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577840" y="822960"/>
            <a:ext cx="6355080" cy="5257800"/>
          </a:xfrm>
          <a:prstGeom prst="rect">
            <a:avLst>
              <a:gd name="adj" fmla="val 1391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715000" y="877824"/>
            <a:ext cx="6080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</a:rPr>
              <a:t>Danh sách nhiệm vụ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577840" y="1234440"/>
            <a:ext cx="6355080" cy="292608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50992" y="1234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Tên nhiệm vụ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73568" y="1234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Đơn vị chủ trì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473184" y="12344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Chu kỳ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378440" y="12344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Thời hạn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83696" y="1234440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Trạng thái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50992" y="170078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Tuần tra giao thông QL1A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73568" y="170078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Giao thông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473184" y="1700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Hàng tuần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378440" y="1700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09/05/2026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1265408" y="1728216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265408" y="172821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577840" y="2167128"/>
            <a:ext cx="63550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50992" y="234086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Kiểm tra PCCC cơ sở KD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973568" y="234086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P.PCCC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473184" y="23408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Hàng tháng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0378440" y="23408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14/05/2026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1265408" y="2368296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265408" y="236829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650992" y="298094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Bảo vệ an ninh Lễ hội tỉnh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973568" y="29809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Cơ động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473184" y="29809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Một lần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378440" y="29809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16/05/2026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1265408" y="3008376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265408" y="300837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● Chưa TH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577840" y="3447288"/>
            <a:ext cx="63550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50992" y="362102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Điều tra vụ trộm tài sản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973568" y="362102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Hình sự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9473184" y="36210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Một lần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378440" y="36210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13/05/2026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1265408" y="3648456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265408" y="364845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650992" y="426110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Báo cáo tệ nạn Q.II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7973568" y="4261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ATXH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9473184" y="42611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Hàng quý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0378440" y="42611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03/05/2026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11265408" y="4288536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265408" y="428853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● Quá hạn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577840" y="4727448"/>
            <a:ext cx="635508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50992" y="490118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Điều tra vụ CGTT Tân Bình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7973568" y="490118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Hình sự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473184" y="49011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Một lần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10378440" y="49011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01/05/2026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11265408" y="4928616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1265408" y="492861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● Hoàn thành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731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🔍  Chi tiết Nhiệm vụ – Báo cáo &amp; Giải trình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5760720" cy="2331720"/>
          </a:xfrm>
          <a:prstGeom prst="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88696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NHIỆM VỤ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10789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244"/>
                </a:solidFill>
              </a:rPr>
              <a:t>Điều tra vụ trộm cắp tài sản tại phường Hòa Phú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15568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1556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🏢 Chủ trì: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664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P.CS Hình sự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27248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🤝 Phối hợp: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43400" y="1664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P.CS ATXH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19385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📅 Chu kỳ: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1938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Một lần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27248" y="19385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⏰ Hạn: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1938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13/05/2026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26771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Tiến độ hoàn thành: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2267712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40%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2514600"/>
            <a:ext cx="5394960" cy="91440"/>
          </a:xfrm>
          <a:prstGeom prst="rect">
            <a:avLst/>
          </a:prstGeom>
          <a:solidFill>
            <a:srgbClr val="E5E7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514600"/>
            <a:ext cx="2157984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291840"/>
            <a:ext cx="5760720" cy="187452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33467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BÁO CÁO KẾT QUẢ THỰC HIỆN (CÁN BỘ GỬI)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" y="3593592"/>
            <a:ext cx="5504688" cy="1051560"/>
          </a:xfrm>
          <a:prstGeom prst="roundRect">
            <a:avLst>
              <a:gd name="adj" fmla="val 6087"/>
            </a:avLst>
          </a:prstGeom>
          <a:solidFill>
            <a:srgbClr val="F8FAFC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6393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4"/>
                </a:solidFill>
              </a:rPr>
              <a:t>P.CS Hình sự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363931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06/05/2026  15:30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77056"/>
            <a:ext cx="5248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Đã phỏng vấn 5 nhân chứng, thu thập 3 đoạn video camera an ninh, xác định được 2 nghi phạm.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" y="4352544"/>
            <a:ext cx="1005840" cy="201168"/>
          </a:xfrm>
          <a:prstGeom prst="roundRect">
            <a:avLst>
              <a:gd name="adj" fmla="val 36364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3525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</a:rPr>
              <a:t>40% hoàn thành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7472" y="4736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📎  Đính kèm: PDF, Word, Excel, ảnh (tối đa 10MB/file)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822960"/>
            <a:ext cx="5715000" cy="182880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8961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⚠️  Giải trình chậm muộn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914400"/>
            <a:ext cx="1554480" cy="237744"/>
          </a:xfrm>
          <a:prstGeom prst="roundRect">
            <a:avLst>
              <a:gd name="adj" fmla="val 38462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0" y="91440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Quá hạn 3 ngày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0" y="1316736"/>
            <a:ext cx="5394960" cy="1188720"/>
          </a:xfrm>
          <a:prstGeom prst="roundRect">
            <a:avLst>
              <a:gd name="adj" fmla="val 5385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1389888"/>
            <a:ext cx="5175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7F1D1D"/>
                </a:solidFill>
              </a:rPr>
              <a:t>Khi nhiệm vụ quá hạn → đơn vị phải nộp bản giải trình trình bày lý do và biện pháp khắc phục, có thể đính kèm tài liệu minh chứng.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2788920"/>
            <a:ext cx="571500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2788920"/>
            <a:ext cx="5029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284378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QUYỀN ADMIN TRÊN CHI TIẾT NHIỆM VỤ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73368" y="312724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84848" y="31272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4"/>
                </a:solidFill>
              </a:rPr>
              <a:t>Chỉnh sửa nhiệm vụ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84848" y="33284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Cập nhật thông tin, gia hạn deadline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73368" y="358444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84848" y="35844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4"/>
                </a:solidFill>
              </a:rPr>
              <a:t>Xem tất cả báo cáo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84848" y="37856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Xem kết quả từ đơn vị chủ trì &amp; phối hợp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73368" y="404164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784848" y="404164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4"/>
                </a:solidFill>
              </a:rPr>
              <a:t>Xem bản giải trình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84848" y="424281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Kiểm tra lý do chậm muộn của đơn vị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4773168"/>
            <a:ext cx="5715000" cy="1307592"/>
          </a:xfrm>
          <a:prstGeom prst="roundRect">
            <a:avLst>
              <a:gd name="adj" fmla="val 6993"/>
            </a:avLst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484632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📎  Upload tài liệu đính kèm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5193792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51937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📄 PDF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183880" y="5193792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83880" y="51937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📝 Word (.docx)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966960" y="5193792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66960" y="51937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📊 Excel (.xlsx)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00800" y="5522976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55229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🖼️ Hình ảnh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183880" y="5522976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83880" y="55229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DDDD"/>
                </a:solidFill>
              </a:rPr>
              <a:t>⚖️ Max 10MB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731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🏢  Quản lý Đơn vị (Phòng ban)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5029200" cy="2834640"/>
          </a:xfrm>
          <a:prstGeom prst="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50292" cy="283464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778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CHỨC NĂNG QUẢN LÝ (ADMIN)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111556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Thêm đơn vị mới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5528" y="135331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Mã (CSGT, PCCC...) + tên + mô tả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7373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" y="1737360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Chỉnh sửa thông tin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5528" y="197510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Cập nhật tên, mô tả đơn vị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359152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5528" y="235915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Kích hoạt / Vô hiệu hóa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5528" y="259689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Toggle trạng thái hoạt động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98094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5528" y="2980944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Tìm kiếm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5528" y="3218688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Lọc theo mã, tên hoặc mô tả đơn vị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794760"/>
            <a:ext cx="5029200" cy="3246120"/>
          </a:xfrm>
          <a:prstGeom prst="roundRect">
            <a:avLst>
              <a:gd name="adj" fmla="val 2817"/>
            </a:avLst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8587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16 phòng ban trong hệ thống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2245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P.CS Hình sự (CAO)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42245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P.CS ATXH (CATQ)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5445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P.CS Giao thông (CSGT)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34640" y="45445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P.CS Cơ động (CACD)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P.Hồ sơ – Kế toán (HSKT)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34640" y="48646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P.PCCC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51846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P.Quản lý Thị trường (QLTT)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34640" y="51846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P.Bảo vệ Lâm nghiệp (BLNN)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55046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P.CS Nước Hình sự (CNHC)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834640" y="55046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P.TC &amp; ĐT Ma tuý (TCDH)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58247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P.An toàn Kinh tế (ATKT)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834640" y="58247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P.SC Trị an (SCTP)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5760" y="61447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P.CV &amp; Kiểm soát kho (CVKT)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834640" y="61447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P.Thông tấn TT (TTTH)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64648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8"/>
                </a:solidFill>
              </a:rPr>
              <a:t>• P.Đào tạo Ngoại hành (DANH)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834640" y="646480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0"/>
                </a:solidFill>
              </a:rPr>
              <a:t>• + Mở rộng thêm...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32120" y="822960"/>
            <a:ext cx="6400800" cy="6217920"/>
          </a:xfrm>
          <a:prstGeom prst="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23560" y="886968"/>
            <a:ext cx="4663440" cy="310896"/>
          </a:xfrm>
          <a:prstGeom prst="roundRect">
            <a:avLst>
              <a:gd name="adj" fmla="val 20588"/>
            </a:avLst>
          </a:prstGeom>
          <a:solidFill>
            <a:srgbClr val="F3F4F6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88696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🔍  Tìm theo mã, tên, mô tả...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561320" y="886968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61320" y="88696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Thêm đơn vị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32120" y="1261872"/>
            <a:ext cx="6400800" cy="292608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05272" y="126187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Mã đơn vị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39128" y="12618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Tên đơn vị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915400" y="12618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Trạng thái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268712" y="12618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Thao tác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23560" y="170078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170078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244"/>
                </a:solidFill>
              </a:rPr>
              <a:t>CSGT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39128" y="1709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Phòng Cảnh sát Giao thông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915400" y="1719072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15400" y="171907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Hoạt động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0314432" y="170078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14432" y="17007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753344" y="170078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753344" y="17007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532120" y="2121408"/>
            <a:ext cx="6400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23560" y="226771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23560" y="226771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244"/>
                </a:solidFill>
              </a:rPr>
              <a:t>PCCC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739128" y="2276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Phòng Phòng chống &amp; Cứu nạn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915400" y="2286000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15400" y="22860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Hoạt động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314432" y="226771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314432" y="226771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753344" y="226771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753344" y="226771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623560" y="283464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23560" y="283464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244"/>
                </a:solidFill>
              </a:rPr>
              <a:t>ATKT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739128" y="28437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Phòng An toàn Kinh tế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915400" y="2852928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15400" y="285292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Vô hiệu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0314432" y="2834640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314432" y="283464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0753344" y="2834640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753344" y="283464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532120" y="3255264"/>
            <a:ext cx="6400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623560" y="340156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23560" y="34015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244"/>
                </a:solidFill>
              </a:rPr>
              <a:t>CAO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739128" y="34107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Phòng Cảnh sát Hình sự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915400" y="3419856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915400" y="341985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Hoạt động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10314432" y="340156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314432" y="340156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10753344" y="3401568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753344" y="340156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623560" y="3968496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23560" y="396849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244"/>
                </a:solidFill>
              </a:rPr>
              <a:t>CATQ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739128" y="3977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Phòng CS An toàn xã hội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8915400" y="3986784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915400" y="398678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Hoạt động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10314432" y="396849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314432" y="39684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10753344" y="3968496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753344" y="39684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5532120" y="4389120"/>
            <a:ext cx="6400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623560" y="4535424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23560" y="453542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244"/>
                </a:solidFill>
              </a:rPr>
              <a:t>HSKT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6739128" y="45445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Phòng Hồ sơ – Kế toán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8915400" y="4553712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15400" y="45537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Hoạt động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10314432" y="453542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314432" y="453542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10753344" y="4535424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753344" y="453542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5623560" y="5102352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623560" y="510235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244"/>
                </a:solidFill>
              </a:rPr>
              <a:t>CACD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6739128" y="51114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Phòng Cảnh sát Cơ động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8915400" y="5120640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915400" y="512064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Hoạt động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10314432" y="510235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314432" y="510235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10753344" y="5102352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753344" y="510235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5532120" y="5522976"/>
            <a:ext cx="6400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623560" y="5669280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623560" y="566928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244"/>
                </a:solidFill>
              </a:rPr>
              <a:t>QLTT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6739128" y="56784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244"/>
                </a:solidFill>
              </a:rPr>
              <a:t>Phòng Quản lý Thị trường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8915400" y="5687568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915400" y="568756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Hoạt động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10314432" y="5669280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0314432" y="56692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✏️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10753344" y="5669280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0FDF4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753344" y="56692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731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👥  Quản lý Tài khoản Người dùng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5029200" cy="3200400"/>
          </a:xfrm>
          <a:prstGeom prst="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50292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778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CHỨC NĂNG QUẢN TRỊ (ADMIN)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115568"/>
            <a:ext cx="411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" y="111556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Tạo tài khoản mới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95528" y="13350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Tên đăng nhập, mật khẩu, họ tên, phân quyền, đơn vị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682496"/>
            <a:ext cx="411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" y="168249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Chỉnh sửa thông tin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5528" y="190195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Họ tên, phân quyền, gán vào đơn vị khác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2249424"/>
            <a:ext cx="411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" y="224942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Đặt lại mật khẩu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5528" y="2468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Admin đặt lại mật khẩu mới cho tài khoản bất kỳ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816352"/>
            <a:ext cx="411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2816352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Kích hoạt / Vô hiệu hóa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5528" y="30358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Khóa hoặc mở khóa tài khoản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3383280"/>
            <a:ext cx="411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" y="338328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Tìm kiếm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5528" y="36027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Lọc theo tên, tên đăng nhập, đơn vị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4151376"/>
            <a:ext cx="5029200" cy="2880360"/>
          </a:xfrm>
          <a:prstGeom prst="roundRect">
            <a:avLst>
              <a:gd name="adj" fmla="val 317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2452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</a:rPr>
              <a:t>Cấu trúc tài khoản demo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4572000"/>
            <a:ext cx="47731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90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4"/>
                </a:solidFill>
              </a:rPr>
              <a:t>👑  admin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17520" y="45902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C040"/>
                </a:solidFill>
              </a:rPr>
              <a:t>Quản trị hệ thống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5001768"/>
            <a:ext cx="47731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02005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4"/>
                </a:solidFill>
              </a:rPr>
              <a:t>🎖️  truong_csgt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017520" y="50200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C040"/>
                </a:solidFill>
              </a:rPr>
              <a:t>Trưởng P.CS Giao thông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5431536"/>
            <a:ext cx="47731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4498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4"/>
                </a:solidFill>
              </a:rPr>
              <a:t>🎖️  truong_cao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17520" y="5449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C040"/>
                </a:solidFill>
              </a:rPr>
              <a:t>Trưởng P.CS Hình sự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7472" y="5861304"/>
            <a:ext cx="47731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8795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4"/>
                </a:solidFill>
              </a:rPr>
              <a:t>👤  csgt1, csgt2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17520" y="58795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C040"/>
                </a:solidFill>
              </a:rPr>
              <a:t>Cán bộ P.CS Giao thông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6291072"/>
            <a:ext cx="4773168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3093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D4"/>
                </a:solidFill>
              </a:rPr>
              <a:t>👤  ... 30+ tài khoản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17520" y="63093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C040"/>
                </a:solidFill>
              </a:rPr>
              <a:t>Nhiều đơn vị khác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32120" y="822960"/>
            <a:ext cx="6400800" cy="6217920"/>
          </a:xfrm>
          <a:prstGeom prst="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23560" y="886968"/>
            <a:ext cx="4663440" cy="310896"/>
          </a:xfrm>
          <a:prstGeom prst="roundRect">
            <a:avLst>
              <a:gd name="adj" fmla="val 20588"/>
            </a:avLst>
          </a:prstGeom>
          <a:solidFill>
            <a:srgbClr val="F3F4F6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88696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🔍  Tìm theo tên, tài khoản, đơn vị...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561320" y="886968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61320" y="886968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 Thêm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32120" y="1261872"/>
            <a:ext cx="6400800" cy="292608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05272" y="1261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Họ tên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13448" y="12618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Tên ĐN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964424" y="12618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Phân quyền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235440" y="12618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Đơn vị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369296" y="1261872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0972800" y="12618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Thao tác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05272" y="1728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Quản trị viên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13448" y="1737360"/>
            <a:ext cx="877824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13448" y="173736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244"/>
                </a:solidFill>
              </a:rPr>
              <a:t>admin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964424" y="173736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64424" y="173736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</a:rPr>
              <a:t>QT hệ thống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9235440" y="17282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P.Hồ sơ-KT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369296" y="1737360"/>
            <a:ext cx="512064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369296" y="1737360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1018520" y="1728216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018520" y="172821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✏️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1292840" y="1728216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292840" y="172821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1567160" y="1728216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567160" y="172821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32120" y="2139696"/>
            <a:ext cx="6400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05272" y="22951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Bùi Văn Giang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013448" y="2304288"/>
            <a:ext cx="877824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13448" y="2304288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244"/>
                </a:solidFill>
              </a:rPr>
              <a:t>truong_csgt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964424" y="2304288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64424" y="230428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</a:rPr>
              <a:t>P.Trách ĐV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235440" y="22951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GT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0369296" y="2304288"/>
            <a:ext cx="512064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69296" y="2304288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1018520" y="2295144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018520" y="229514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✏️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1292840" y="2295144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292840" y="229514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1567160" y="2295144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1567160" y="229514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605272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Hoàng Thị Hoa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013448" y="2871216"/>
            <a:ext cx="877824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13448" y="287121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244"/>
                </a:solidFill>
              </a:rPr>
              <a:t>csgt1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964424" y="2871216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64424" y="28712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Cán bộ ĐV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235440" y="2862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GT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10369296" y="2871216"/>
            <a:ext cx="512064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369296" y="2871216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1018520" y="2862072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018520" y="286207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✏️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1292840" y="2862072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292840" y="286207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1567160" y="2862072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567160" y="286207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532120" y="3273552"/>
            <a:ext cx="6400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05272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Phan Văn Hùng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013448" y="3438144"/>
            <a:ext cx="877824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013448" y="3438144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244"/>
                </a:solidFill>
              </a:rPr>
              <a:t>csgt2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964424" y="3438144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964424" y="343814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Cán bộ ĐV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9235440" y="3429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GT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10369296" y="3438144"/>
            <a:ext cx="512064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369296" y="3438144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11018520" y="3429000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1018520" y="342900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✏️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11292840" y="3429000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1292840" y="342900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1567160" y="3429000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1567160" y="342900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5605272" y="39959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Nguyễn Thị Mai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7013448" y="4005072"/>
            <a:ext cx="877824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013448" y="4005072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244"/>
                </a:solidFill>
              </a:rPr>
              <a:t>truong_cao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7964424" y="4005072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964424" y="400507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</a:rPr>
              <a:t>P.Trách ĐV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9235440" y="3995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HS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10369296" y="4005072"/>
            <a:ext cx="512064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0369296" y="4005072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11018520" y="3995928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1018520" y="399592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✏️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11292840" y="3995928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292840" y="399592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1567160" y="3995928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1567160" y="399592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5532120" y="4407408"/>
            <a:ext cx="6400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605272" y="45628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Trần Văn Nam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7013448" y="4572000"/>
            <a:ext cx="877824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013448" y="4572000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244"/>
                </a:solidFill>
              </a:rPr>
              <a:t>cao1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7964424" y="457200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964424" y="457200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Cán bộ ĐV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9235440" y="4562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HS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0369296" y="4572000"/>
            <a:ext cx="512064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0369296" y="4572000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✗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11018520" y="4562856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018520" y="456285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✏️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11292840" y="4562856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1292840" y="456285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11567160" y="4562856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1567160" y="456285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5605272" y="5129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Lê Thị Phương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7013448" y="5138928"/>
            <a:ext cx="877824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013448" y="5138928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244"/>
                </a:solidFill>
              </a:rPr>
              <a:t>pccc1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7964424" y="5138928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964424" y="513892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</a:rPr>
              <a:t>Cán bộ ĐV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9235440" y="51297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P.PCCC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10369296" y="5138928"/>
            <a:ext cx="512064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369296" y="5138928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11018520" y="5129784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1018520" y="512978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✏️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11292840" y="5129784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292840" y="512978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11567160" y="5129784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1567160" y="512978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5532120" y="5541264"/>
            <a:ext cx="6400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605272" y="56967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Đinh Văn Khoa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7013448" y="5705856"/>
            <a:ext cx="877824" cy="219456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013448" y="5705856"/>
            <a:ext cx="8778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2244"/>
                </a:solidFill>
              </a:rPr>
              <a:t>truong_cacd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7964424" y="5705856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964424" y="570585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</a:rPr>
              <a:t>P.Trách ĐV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9235440" y="5696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P.CS CĐ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10369296" y="5705856"/>
            <a:ext cx="512064" cy="219456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0369296" y="5705856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11018520" y="5696712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11018520" y="569671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✏️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11292840" y="5696712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11292840" y="569671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🔑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11567160" y="5696712"/>
            <a:ext cx="237744" cy="256032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6350">
            <a:solidFill>
              <a:srgbClr val="D1DAE8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67160" y="569671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📊  Báo cáo &amp; Thống kê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725912" y="164592"/>
            <a:ext cx="1188720" cy="347472"/>
          </a:xfrm>
          <a:prstGeom prst="roundRect">
            <a:avLst>
              <a:gd name="adj" fmla="val 31579"/>
            </a:avLst>
          </a:prstGeom>
          <a:solidFill>
            <a:srgbClr val="C8A43A">
              <a:alpha val="25000"/>
            </a:srgbClr>
          </a:solidFill>
          <a:ln w="12700">
            <a:solidFill>
              <a:srgbClr val="C8A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5912" y="1645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43A"/>
                </a:solidFill>
              </a:rPr>
              <a:t>Admin only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5029200" cy="3291840"/>
          </a:xfrm>
          <a:prstGeom prst="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22960"/>
            <a:ext cx="50292" cy="329184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NỘI DUNG BÁO CÁO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115568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1115568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Thống kê theo trạng thái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" y="1362456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Tổng cộng / Chưa TH / Đang TH / Hoàn thành / Quá hạn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1810512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181051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Thống kê theo đơn vị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528" y="2057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Số lượng nhiệm vụ từng trạng thái của mỗi phòng ban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2505456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528" y="2505456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Danh sách nhiệm vụ quá hạn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5528" y="2752344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Đơn vị, thời hạn, trạng thái cụ thể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3200400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95528" y="3200400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Lọc theo khoảng thời gian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5528" y="344728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Từ ngày – đến ngày tuỳ chọn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4224528"/>
            <a:ext cx="5029200" cy="1097280"/>
          </a:xfrm>
          <a:prstGeom prst="roundRect">
            <a:avLst>
              <a:gd name="adj" fmla="val 8333"/>
            </a:avLst>
          </a:prstGeom>
          <a:solidFill>
            <a:srgbClr val="16A3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15968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📥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143000" y="4343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Xuất Excel 1 click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6817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EEC0"/>
                </a:solidFill>
              </a:rPr>
              <a:t>File .xlsx gồm 3 sheet: Tổng hợp  ·  Theo đơn vị  ·  Quá hạn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43000" y="4956048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EEEC0"/>
                </a:solidFill>
              </a:rPr>
              <a:t>BaoCaoNhiemVu_20260506_1430.xlsx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5458968"/>
            <a:ext cx="5029200" cy="1572768"/>
          </a:xfrm>
          <a:prstGeom prst="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4048" y="55229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📅  Lọc thời gian: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580644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3F4F6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58064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Từ ngày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16352" y="5806440"/>
            <a:ext cx="2286000" cy="310896"/>
          </a:xfrm>
          <a:prstGeom prst="roundRect">
            <a:avLst>
              <a:gd name="adj" fmla="val 17647"/>
            </a:avLst>
          </a:prstGeom>
          <a:solidFill>
            <a:srgbClr val="F3F4F6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58064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Đến ngày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6291072"/>
            <a:ext cx="1024128" cy="310896"/>
          </a:xfrm>
          <a:prstGeom prst="roundRect">
            <a:avLst>
              <a:gd name="adj" fmla="val 17647"/>
            </a:avLst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6291072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Áp dụng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444752" y="6291072"/>
            <a:ext cx="1024128" cy="310896"/>
          </a:xfrm>
          <a:prstGeom prst="roundRect">
            <a:avLst>
              <a:gd name="adj" fmla="val 17647"/>
            </a:avLst>
          </a:prstGeom>
          <a:solidFill>
            <a:srgbClr val="F3F4F6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44752" y="6291072"/>
            <a:ext cx="10241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Đặt lại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32120" y="822960"/>
            <a:ext cx="123444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89611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</a:rPr>
              <a:t>21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5532120" y="13990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Tổng cộng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76288" y="822960"/>
            <a:ext cx="1234440" cy="1097280"/>
          </a:xfrm>
          <a:prstGeom prst="roundRect">
            <a:avLst>
              <a:gd name="adj" fmla="val 6667"/>
            </a:avLst>
          </a:prstGeom>
          <a:solidFill>
            <a:srgbClr val="F9FAFB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89611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</a:rPr>
              <a:t>8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6876288" y="13990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Chưa TH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220456" y="822960"/>
            <a:ext cx="1234440" cy="1097280"/>
          </a:xfrm>
          <a:prstGeom prst="roundRect">
            <a:avLst>
              <a:gd name="adj" fmla="val 6667"/>
            </a:avLst>
          </a:prstGeom>
          <a:solidFill>
            <a:srgbClr val="FEF9C3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0456" y="89611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</a:rPr>
              <a:t>7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8220456" y="13990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Đang TH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564624" y="822960"/>
            <a:ext cx="1234440" cy="109728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64624" y="89611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3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9564624" y="13990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Hoàn thành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908792" y="822960"/>
            <a:ext cx="123444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08792" y="89611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</a:rPr>
              <a:t>3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10908792" y="13990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Quá hạn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32120" y="2057400"/>
            <a:ext cx="6400800" cy="4974336"/>
          </a:xfrm>
          <a:prstGeom prst="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669280" y="21214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</a:rPr>
              <a:t>Thống kê theo đơn vị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32120" y="2468880"/>
            <a:ext cx="6400800" cy="27432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05272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Đơn vị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86968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Trạng thái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332720" y="24688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Số lượng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05272" y="27797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CS Giao thông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887968" y="2798064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87968" y="279806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332720" y="27797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2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532120" y="3072384"/>
            <a:ext cx="6400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05272" y="3108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CS Hình sự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887968" y="3127248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87968" y="312724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0332720" y="3108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2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05272" y="34381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CS ATXH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887968" y="3456432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887968" y="345643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● Quá hạn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0332720" y="3438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1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532120" y="3730752"/>
            <a:ext cx="6400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05272" y="3767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PCCC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887968" y="3785616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887968" y="378561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332720" y="3767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5605272" y="4096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Hồ sơ – Kế toán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887968" y="4114800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87968" y="411480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● Chưa TH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332720" y="40965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5532120" y="4389120"/>
            <a:ext cx="6400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605272" y="44256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CS Cơ động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887968" y="4443984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887968" y="444398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● Chưa TH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0332720" y="44256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5605272" y="4754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CS Nước HS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887968" y="4773168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887968" y="477316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● Chưa TH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10332720" y="4754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5532120" y="5047488"/>
            <a:ext cx="6400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605272" y="50840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Bảo vệ Lâm nghiệp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8887968" y="5102352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887968" y="510235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10332720" y="5084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5605272" y="5413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Quản lý Thị trường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887968" y="5431536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887968" y="543153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● Chưa TH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0332720" y="5413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5532120" y="5705856"/>
            <a:ext cx="6400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05272" y="57424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An toàn Kinh tế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8887968" y="5760720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887968" y="576072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● Chưa TH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10332720" y="57424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5605272" y="60716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TC &amp; ĐT Ma tuý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8887968" y="6089904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887968" y="608990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● Đang TH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10332720" y="60716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5532120" y="6364224"/>
            <a:ext cx="640080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605272" y="6400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244"/>
                </a:solidFill>
              </a:rPr>
              <a:t>Phòng SC Trị an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8887968" y="6419088"/>
            <a:ext cx="1143000" cy="219456"/>
          </a:xfrm>
          <a:prstGeom prst="roundRect">
            <a:avLst>
              <a:gd name="adj" fmla="val 41667"/>
            </a:avLst>
          </a:prstGeom>
          <a:solidFill>
            <a:srgbClr val="F3F4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887968" y="641908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● Chưa TH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10332720" y="6400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731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🔔  Hệ thống Thông báo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5029200" cy="4251960"/>
          </a:xfrm>
          <a:prstGeom prst="rect">
            <a:avLst>
              <a:gd name="adj" fmla="val 1720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50292" cy="425196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778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CÁC LOẠI THÔNG BÁO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4773168" cy="694944"/>
          </a:xfrm>
          <a:prstGeom prst="roundRect">
            <a:avLst>
              <a:gd name="adj" fmla="val 1052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887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121615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Nhiệm vụ mới được giao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2688" y="14538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Thông báo khi Admin giao nhiệm vụ cho đơn vị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975104"/>
            <a:ext cx="4773168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933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2020824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Nhắc nhở sắp đến hạn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32688" y="225856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Cảnh báo trước N ngày (cấu hình khi tạo nhiệm vụ)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779776"/>
            <a:ext cx="4773168" cy="694944"/>
          </a:xfrm>
          <a:prstGeom prst="roundRect">
            <a:avLst>
              <a:gd name="adj" fmla="val 10526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79806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2825496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Nhiệm vụ quá hạn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2688" y="306324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Cảnh báo ngay khi deadline qua mà chưa hoàn thành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584448"/>
            <a:ext cx="4773168" cy="694944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60273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" y="363016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244"/>
                </a:solidFill>
              </a:rPr>
              <a:t>Kết quả được cập nhật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2688" y="3867912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Thông báo khi đơn vị gửi báo cáo thực hiện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5193792"/>
            <a:ext cx="5029200" cy="1847088"/>
          </a:xfrm>
          <a:prstGeom prst="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52486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</a:rPr>
              <a:t>TÍNH NĂNG THÔNG BÁO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4048" y="5486400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🔢  Badge đếm số thông báo chưa đọc trên menu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5843016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👁️  Đánh dấu đã đọc từng thông báo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" y="6199632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✔️  Đánh dấu tất cả là đã đọc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6556248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🎯  Thông báo theo đơn vị / cá nhân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32120" y="822960"/>
            <a:ext cx="6400800" cy="6217920"/>
          </a:xfrm>
          <a:prstGeom prst="rect">
            <a:avLst>
              <a:gd name="adj" fmla="val 1176"/>
            </a:avLst>
          </a:prstGeom>
          <a:solidFill>
            <a:srgbClr val="FFFFFF"/>
          </a:solidFill>
          <a:ln w="9525">
            <a:solidFill>
              <a:srgbClr val="D1DA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10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32120" y="822960"/>
            <a:ext cx="6400800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D1DA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8229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44"/>
                </a:solidFill>
              </a:rPr>
              <a:t>🔔  Thông báo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73568" y="914400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73568" y="91440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07040" y="8229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Đọc tất cả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1261872"/>
            <a:ext cx="640080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32120" y="2267712"/>
            <a:ext cx="6400800" cy="0"/>
          </a:xfrm>
          <a:prstGeom prst="line">
            <a:avLst/>
          </a:prstGeom>
          <a:noFill/>
          <a:ln w="6350">
            <a:solidFill>
              <a:srgbClr val="D1DA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50992" y="144475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172200" y="14173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4"/>
                </a:solidFill>
              </a:rPr>
              <a:t>Nhiệm vụ sắp đến hạn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168249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"Báo cáo tài chính quyết toán Q.I" — còn 2 ngày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72200" y="201168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</a:rPr>
              <a:t>2 phút trước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1676888" y="164592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32120" y="2267712"/>
            <a:ext cx="64008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32120" y="3273552"/>
            <a:ext cx="6400800" cy="0"/>
          </a:xfrm>
          <a:prstGeom prst="line">
            <a:avLst/>
          </a:prstGeom>
          <a:noFill/>
          <a:ln w="6350">
            <a:solidFill>
              <a:srgbClr val="D1DA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245059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172200" y="24231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4"/>
                </a:solidFill>
              </a:rPr>
              <a:t>Nhiệm vụ quá hạn!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26883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"Báo cáo tổng hợp tệ nạn Q.II" — đã quá hạn 3 ngày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72200" y="301752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</a:rPr>
              <a:t>1 giờ trước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1676888" y="265176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32120" y="3273552"/>
            <a:ext cx="640080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32120" y="4279392"/>
            <a:ext cx="6400800" cy="0"/>
          </a:xfrm>
          <a:prstGeom prst="line">
            <a:avLst/>
          </a:prstGeom>
          <a:noFill/>
          <a:ln w="6350">
            <a:solidFill>
              <a:srgbClr val="D1DA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345643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6172200" y="34290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244"/>
                </a:solidFill>
              </a:rPr>
              <a:t>Nhiệm vụ mới được giao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72200" y="369417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"Điều tra đường dây ma tuý liên tỉnh" — P.TC&amp;ĐT Ma tuý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172200" y="402336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</a:rPr>
              <a:t>3 giờ trước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1676888" y="36576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32120" y="5285232"/>
            <a:ext cx="6400800" cy="0"/>
          </a:xfrm>
          <a:prstGeom prst="line">
            <a:avLst/>
          </a:prstGeom>
          <a:noFill/>
          <a:ln w="6350">
            <a:solidFill>
              <a:srgbClr val="D1DA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446227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6172200" y="44348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Kết quả đã được cập nhật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72200" y="470001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"Kiểm tra kho vũ khí" — P.CV&amp;Kiểm soát kho: 100%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172200" y="50292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</a:rPr>
              <a:t>Hôm qua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532120" y="6291072"/>
            <a:ext cx="6400800" cy="0"/>
          </a:xfrm>
          <a:prstGeom prst="line">
            <a:avLst/>
          </a:prstGeom>
          <a:noFill/>
          <a:ln w="6350">
            <a:solidFill>
              <a:srgbClr val="D1DA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50992" y="54681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6172200" y="54406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Điều tra hoàn thành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172200" y="570585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</a:rPr>
              <a:t>"Vụ CGTT xã Tân Bình" — hồ sơ đã chuyển VKS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172200" y="603504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</a:rPr>
              <a:t>2 ngày trước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A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A4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2004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1078992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C040"/>
                </a:solidFill>
              </a:rPr>
              <a:t>Tổng kết Hệ thống CAHY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166420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1B0"/>
                </a:solidFill>
              </a:rPr>
              <a:t>Giải pháp quản lý nhiệm vụ nội bộ cho Công an tỉnh — đơn giản, bảo mật, hiệu quả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21488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22219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40"/>
                </a:solidFill>
              </a:rPr>
              <a:t>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45920" y="2788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Module chức năng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2219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40"/>
                </a:solidFill>
              </a:rPr>
              <a:t>16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2788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Phòng ban quản lý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21488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22199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40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863840" y="2788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Cấp phân quyền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0" y="3355848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40"/>
                </a:solidFill>
              </a:rPr>
              <a:t>100%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45920" y="3995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Nội bộ 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355848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40"/>
                </a:solidFill>
              </a:rPr>
              <a:t>xlsx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754880" y="3995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Xuất báo cáo Excel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63840" y="3355848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40"/>
                </a:solidFill>
              </a:rPr>
              <a:t>∞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863840" y="39959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1B0"/>
                </a:solidFill>
              </a:rPr>
              <a:t>File đính kèm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572000"/>
            <a:ext cx="2651760" cy="274320"/>
          </a:xfrm>
          <a:prstGeom prst="roundRect">
            <a:avLst>
              <a:gd name="adj" fmla="val 40000"/>
            </a:avLst>
          </a:prstGeom>
          <a:solidFill>
            <a:srgbClr val="C8A43A">
              <a:alpha val="15000"/>
            </a:srgbClr>
          </a:solidFill>
          <a:ln w="12700">
            <a:solidFill>
              <a:srgbClr val="C8A43A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572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C040"/>
                </a:solidFill>
              </a:rPr>
              <a:t>✅ Đăng nhập phân quyền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93008" y="4572000"/>
            <a:ext cx="2651760" cy="274320"/>
          </a:xfrm>
          <a:prstGeom prst="roundRect">
            <a:avLst>
              <a:gd name="adj" fmla="val 40000"/>
            </a:avLst>
          </a:prstGeom>
          <a:solidFill>
            <a:srgbClr val="C8A43A">
              <a:alpha val="15000"/>
            </a:srgbClr>
          </a:solidFill>
          <a:ln w="12700">
            <a:solidFill>
              <a:srgbClr val="C8A43A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4572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C040"/>
                </a:solidFill>
              </a:rPr>
              <a:t>✅ Giao &amp; theo dõi nhiệm vụ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19088" y="4572000"/>
            <a:ext cx="2651760" cy="274320"/>
          </a:xfrm>
          <a:prstGeom prst="roundRect">
            <a:avLst>
              <a:gd name="adj" fmla="val 40000"/>
            </a:avLst>
          </a:prstGeom>
          <a:solidFill>
            <a:srgbClr val="C8A43A">
              <a:alpha val="15000"/>
            </a:srgbClr>
          </a:solidFill>
          <a:ln w="12700">
            <a:solidFill>
              <a:srgbClr val="C8A43A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4572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C040"/>
                </a:solidFill>
              </a:rPr>
              <a:t>✅ Báo cáo tiến độ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45168" y="4572000"/>
            <a:ext cx="2651760" cy="274320"/>
          </a:xfrm>
          <a:prstGeom prst="roundRect">
            <a:avLst>
              <a:gd name="adj" fmla="val 40000"/>
            </a:avLst>
          </a:prstGeom>
          <a:solidFill>
            <a:srgbClr val="C8A43A">
              <a:alpha val="15000"/>
            </a:srgbClr>
          </a:solidFill>
          <a:ln w="12700">
            <a:solidFill>
              <a:srgbClr val="C8A43A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45168" y="4572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C040"/>
                </a:solidFill>
              </a:rPr>
              <a:t>✅ Giải trình quá hạn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4956048"/>
            <a:ext cx="2651760" cy="274320"/>
          </a:xfrm>
          <a:prstGeom prst="roundRect">
            <a:avLst>
              <a:gd name="adj" fmla="val 40000"/>
            </a:avLst>
          </a:prstGeom>
          <a:solidFill>
            <a:srgbClr val="C8A43A">
              <a:alpha val="15000"/>
            </a:srgbClr>
          </a:solidFill>
          <a:ln w="12700">
            <a:solidFill>
              <a:srgbClr val="C8A43A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9560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C040"/>
                </a:solidFill>
              </a:rPr>
              <a:t>✅ Thống kê &amp; Xuất Excel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93008" y="4956048"/>
            <a:ext cx="2651760" cy="274320"/>
          </a:xfrm>
          <a:prstGeom prst="roundRect">
            <a:avLst>
              <a:gd name="adj" fmla="val 40000"/>
            </a:avLst>
          </a:prstGeom>
          <a:solidFill>
            <a:srgbClr val="C8A43A">
              <a:alpha val="15000"/>
            </a:srgbClr>
          </a:solidFill>
          <a:ln w="12700">
            <a:solidFill>
              <a:srgbClr val="C8A43A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49560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C040"/>
                </a:solidFill>
              </a:rPr>
              <a:t>✅ Thông báo tự động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19088" y="4956048"/>
            <a:ext cx="2651760" cy="274320"/>
          </a:xfrm>
          <a:prstGeom prst="roundRect">
            <a:avLst>
              <a:gd name="adj" fmla="val 40000"/>
            </a:avLst>
          </a:prstGeom>
          <a:solidFill>
            <a:srgbClr val="C8A43A">
              <a:alpha val="15000"/>
            </a:srgbClr>
          </a:solidFill>
          <a:ln w="12700">
            <a:solidFill>
              <a:srgbClr val="C8A43A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49560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C040"/>
                </a:solidFill>
              </a:rPr>
              <a:t>✅ Đính kèm tài liệu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345168" y="4956048"/>
            <a:ext cx="2651760" cy="274320"/>
          </a:xfrm>
          <a:prstGeom prst="roundRect">
            <a:avLst>
              <a:gd name="adj" fmla="val 40000"/>
            </a:avLst>
          </a:prstGeom>
          <a:solidFill>
            <a:srgbClr val="C8A43A">
              <a:alpha val="15000"/>
            </a:srgbClr>
          </a:solidFill>
          <a:ln w="12700">
            <a:solidFill>
              <a:srgbClr val="C8A43A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45168" y="49560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C040"/>
                </a:solidFill>
              </a:rPr>
              <a:t>✅ Lọc dữ liệu theo phòng ban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0" y="6437376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67A"/>
                </a:solidFill>
              </a:rPr>
              <a:t>Ekila  ·  2026  ·  Hệ thống vận hành trên mạng LAN nội bộ Công an tỉnh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CAHY – Hệ thống Quản lý Nhiệm vụ Công tác</dc:title>
  <dc:subject>Demo Presentation</dc:subject>
  <dc:creator>CAHY System</dc:creator>
  <cp:lastModifiedBy>CAHY System</cp:lastModifiedBy>
  <cp:revision>1</cp:revision>
  <dcterms:created xsi:type="dcterms:W3CDTF">2026-05-06T08:48:11Z</dcterms:created>
  <dcterms:modified xsi:type="dcterms:W3CDTF">2026-05-06T08:48:11Z</dcterms:modified>
</cp:coreProperties>
</file>